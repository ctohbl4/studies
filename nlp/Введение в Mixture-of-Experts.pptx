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5" r:id="rId8"/>
    <p:sldId id="266" r:id="rId9"/>
    <p:sldId id="262" r:id="rId10"/>
    <p:sldId id="269" r:id="rId11"/>
    <p:sldId id="268" r:id="rId12"/>
    <p:sldId id="270" r:id="rId13"/>
    <p:sldId id="261" r:id="rId14"/>
    <p:sldId id="2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94"/>
  </p:normalViewPr>
  <p:slideViewPr>
    <p:cSldViewPr snapToGrid="0">
      <p:cViewPr>
        <p:scale>
          <a:sx n="109" d="100"/>
          <a:sy n="109" d="100"/>
        </p:scale>
        <p:origin x="81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7851AB-F078-4146-8945-BC18B3DD9A47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4A6DCD3-D65E-4429-8031-3079034F29E7}">
      <dgm:prSet/>
      <dgm:spPr/>
      <dgm:t>
        <a:bodyPr/>
        <a:lstStyle/>
        <a:p>
          <a:r>
            <a:rPr lang="ru-RU" b="1" dirty="0"/>
            <a:t>Достоинства:</a:t>
          </a:r>
          <a:endParaRPr lang="en-US" b="1" dirty="0"/>
        </a:p>
      </dgm:t>
    </dgm:pt>
    <dgm:pt modelId="{4053A8FE-E57D-4AD3-8773-EE1CE966BFEC}" type="parTrans" cxnId="{5D45B3CE-0A81-4DF1-A4C9-163E48F0773E}">
      <dgm:prSet/>
      <dgm:spPr/>
      <dgm:t>
        <a:bodyPr/>
        <a:lstStyle/>
        <a:p>
          <a:endParaRPr lang="en-US"/>
        </a:p>
      </dgm:t>
    </dgm:pt>
    <dgm:pt modelId="{8F7E3AB2-09A0-457B-967B-FC02B25F4C1C}" type="sibTrans" cxnId="{5D45B3CE-0A81-4DF1-A4C9-163E48F0773E}">
      <dgm:prSet/>
      <dgm:spPr/>
      <dgm:t>
        <a:bodyPr/>
        <a:lstStyle/>
        <a:p>
          <a:endParaRPr lang="en-US"/>
        </a:p>
      </dgm:t>
    </dgm:pt>
    <dgm:pt modelId="{B62ABCBA-3A3A-4FDB-A441-1FA0BF211EE1}">
      <dgm:prSet/>
      <dgm:spPr/>
      <dgm:t>
        <a:bodyPr/>
        <a:lstStyle/>
        <a:p>
          <a:r>
            <a:rPr lang="ru-RU"/>
            <a:t>Более быстрое вычисление из-за параллелизации </a:t>
          </a:r>
          <a:r>
            <a:rPr lang="en-US"/>
            <a:t>MoE</a:t>
          </a:r>
        </a:p>
      </dgm:t>
    </dgm:pt>
    <dgm:pt modelId="{93A0EF10-028B-4EBE-8701-6247EFA945E9}" type="parTrans" cxnId="{06A1CCB7-5831-4AE6-B8CA-D7A2FA828B55}">
      <dgm:prSet/>
      <dgm:spPr/>
      <dgm:t>
        <a:bodyPr/>
        <a:lstStyle/>
        <a:p>
          <a:endParaRPr lang="en-US"/>
        </a:p>
      </dgm:t>
    </dgm:pt>
    <dgm:pt modelId="{BD1261CE-74B6-44E1-86E8-1499FD771478}" type="sibTrans" cxnId="{06A1CCB7-5831-4AE6-B8CA-D7A2FA828B55}">
      <dgm:prSet/>
      <dgm:spPr/>
      <dgm:t>
        <a:bodyPr/>
        <a:lstStyle/>
        <a:p>
          <a:endParaRPr lang="en-US"/>
        </a:p>
      </dgm:t>
    </dgm:pt>
    <dgm:pt modelId="{5BCABDE5-D1A2-4B6D-8743-4223790AF9AC}">
      <dgm:prSet/>
      <dgm:spPr/>
      <dgm:t>
        <a:bodyPr/>
        <a:lstStyle/>
        <a:p>
          <a:r>
            <a:rPr lang="ru-RU"/>
            <a:t>Следствие – возможность увеличения сложности моделей</a:t>
          </a:r>
          <a:endParaRPr lang="en-US"/>
        </a:p>
      </dgm:t>
    </dgm:pt>
    <dgm:pt modelId="{9D29285F-0B9A-4307-BFF6-1FAF42A331C7}" type="parTrans" cxnId="{787CB8D0-9BA5-4B61-BF42-8A9B103E01B8}">
      <dgm:prSet/>
      <dgm:spPr/>
      <dgm:t>
        <a:bodyPr/>
        <a:lstStyle/>
        <a:p>
          <a:endParaRPr lang="en-US"/>
        </a:p>
      </dgm:t>
    </dgm:pt>
    <dgm:pt modelId="{707E53D3-8E66-474C-9F90-43C9206C513A}" type="sibTrans" cxnId="{787CB8D0-9BA5-4B61-BF42-8A9B103E01B8}">
      <dgm:prSet/>
      <dgm:spPr/>
      <dgm:t>
        <a:bodyPr/>
        <a:lstStyle/>
        <a:p>
          <a:endParaRPr lang="en-US"/>
        </a:p>
      </dgm:t>
    </dgm:pt>
    <dgm:pt modelId="{FF32D419-C5CB-48A9-B951-4583B02FBB64}">
      <dgm:prSet/>
      <dgm:spPr/>
      <dgm:t>
        <a:bodyPr/>
        <a:lstStyle/>
        <a:p>
          <a:r>
            <a:rPr lang="ru-RU" b="1" dirty="0"/>
            <a:t>Недостатки:</a:t>
          </a:r>
          <a:endParaRPr lang="en-US" b="1" dirty="0"/>
        </a:p>
      </dgm:t>
    </dgm:pt>
    <dgm:pt modelId="{697E5D1A-DE42-4B0E-90BD-32D9F0DD2E68}" type="parTrans" cxnId="{ED4CB6ED-E432-4AF3-97BF-26E5883FC6F5}">
      <dgm:prSet/>
      <dgm:spPr/>
      <dgm:t>
        <a:bodyPr/>
        <a:lstStyle/>
        <a:p>
          <a:endParaRPr lang="en-US"/>
        </a:p>
      </dgm:t>
    </dgm:pt>
    <dgm:pt modelId="{3BA099E7-8935-4BAA-85AB-C7AAB906372A}" type="sibTrans" cxnId="{ED4CB6ED-E432-4AF3-97BF-26E5883FC6F5}">
      <dgm:prSet/>
      <dgm:spPr/>
      <dgm:t>
        <a:bodyPr/>
        <a:lstStyle/>
        <a:p>
          <a:endParaRPr lang="en-US"/>
        </a:p>
      </dgm:t>
    </dgm:pt>
    <dgm:pt modelId="{5245D532-70B2-49F6-82D2-DC40A0E1AB57}">
      <dgm:prSet/>
      <dgm:spPr/>
      <dgm:t>
        <a:bodyPr/>
        <a:lstStyle/>
        <a:p>
          <a:r>
            <a:rPr lang="ru-RU"/>
            <a:t>Все веса должны быть доступны на </a:t>
          </a:r>
          <a:r>
            <a:rPr lang="en-US"/>
            <a:t>VRAM</a:t>
          </a:r>
          <a:r>
            <a:rPr lang="ru-RU"/>
            <a:t>. Требуется много ресурсов</a:t>
          </a:r>
          <a:endParaRPr lang="en-US"/>
        </a:p>
      </dgm:t>
    </dgm:pt>
    <dgm:pt modelId="{64FFD27B-6014-4B91-8F79-84CF897EF2ED}" type="parTrans" cxnId="{797B5617-4489-4314-A109-2DA7B33A0877}">
      <dgm:prSet/>
      <dgm:spPr/>
      <dgm:t>
        <a:bodyPr/>
        <a:lstStyle/>
        <a:p>
          <a:endParaRPr lang="en-US"/>
        </a:p>
      </dgm:t>
    </dgm:pt>
    <dgm:pt modelId="{63828523-A60A-485F-93B7-384C92902F76}" type="sibTrans" cxnId="{797B5617-4489-4314-A109-2DA7B33A0877}">
      <dgm:prSet/>
      <dgm:spPr/>
      <dgm:t>
        <a:bodyPr/>
        <a:lstStyle/>
        <a:p>
          <a:endParaRPr lang="en-US"/>
        </a:p>
      </dgm:t>
    </dgm:pt>
    <dgm:pt modelId="{8C627F39-9625-4924-BDA4-1E22F3FC11D4}">
      <dgm:prSet/>
      <dgm:spPr/>
      <dgm:t>
        <a:bodyPr/>
        <a:lstStyle/>
        <a:p>
          <a:r>
            <a:rPr lang="ru-RU"/>
            <a:t>Сложности при обучении с </a:t>
          </a:r>
          <a:r>
            <a:rPr lang="en-US"/>
            <a:t>GPU </a:t>
          </a:r>
          <a:r>
            <a:rPr lang="ru-RU"/>
            <a:t>и </a:t>
          </a:r>
          <a:r>
            <a:rPr lang="en-US"/>
            <a:t>TPU</a:t>
          </a:r>
        </a:p>
      </dgm:t>
    </dgm:pt>
    <dgm:pt modelId="{CB6951C0-D8F8-4C5E-B689-BD7488A8FF2D}" type="parTrans" cxnId="{CC50E369-4163-4F21-9FAB-1D32A7E4B5BB}">
      <dgm:prSet/>
      <dgm:spPr/>
      <dgm:t>
        <a:bodyPr/>
        <a:lstStyle/>
        <a:p>
          <a:endParaRPr lang="en-US"/>
        </a:p>
      </dgm:t>
    </dgm:pt>
    <dgm:pt modelId="{55322009-909B-4AA0-929D-20AA53D51637}" type="sibTrans" cxnId="{CC50E369-4163-4F21-9FAB-1D32A7E4B5BB}">
      <dgm:prSet/>
      <dgm:spPr/>
      <dgm:t>
        <a:bodyPr/>
        <a:lstStyle/>
        <a:p>
          <a:endParaRPr lang="en-US"/>
        </a:p>
      </dgm:t>
    </dgm:pt>
    <dgm:pt modelId="{C2C396FB-7325-AB4E-907A-D667295D437D}" type="pres">
      <dgm:prSet presAssocID="{077851AB-F078-4146-8945-BC18B3DD9A47}" presName="diagram" presStyleCnt="0">
        <dgm:presLayoutVars>
          <dgm:dir/>
          <dgm:resizeHandles val="exact"/>
        </dgm:presLayoutVars>
      </dgm:prSet>
      <dgm:spPr/>
    </dgm:pt>
    <dgm:pt modelId="{862D654C-3BD1-434F-AEB7-91FC94392BA5}" type="pres">
      <dgm:prSet presAssocID="{34A6DCD3-D65E-4429-8031-3079034F29E7}" presName="node" presStyleLbl="node1" presStyleIdx="0" presStyleCnt="2">
        <dgm:presLayoutVars>
          <dgm:bulletEnabled val="1"/>
        </dgm:presLayoutVars>
      </dgm:prSet>
      <dgm:spPr/>
    </dgm:pt>
    <dgm:pt modelId="{A105F7DE-8BF3-3E47-8711-F228BF9D7595}" type="pres">
      <dgm:prSet presAssocID="{8F7E3AB2-09A0-457B-967B-FC02B25F4C1C}" presName="sibTrans" presStyleCnt="0"/>
      <dgm:spPr/>
    </dgm:pt>
    <dgm:pt modelId="{0D4AFF7E-D49D-A44C-B8FE-36AC834AD41D}" type="pres">
      <dgm:prSet presAssocID="{FF32D419-C5CB-48A9-B951-4583B02FBB64}" presName="node" presStyleLbl="node1" presStyleIdx="1" presStyleCnt="2">
        <dgm:presLayoutVars>
          <dgm:bulletEnabled val="1"/>
        </dgm:presLayoutVars>
      </dgm:prSet>
      <dgm:spPr/>
    </dgm:pt>
  </dgm:ptLst>
  <dgm:cxnLst>
    <dgm:cxn modelId="{797B5617-4489-4314-A109-2DA7B33A0877}" srcId="{FF32D419-C5CB-48A9-B951-4583B02FBB64}" destId="{5245D532-70B2-49F6-82D2-DC40A0E1AB57}" srcOrd="0" destOrd="0" parTransId="{64FFD27B-6014-4B91-8F79-84CF897EF2ED}" sibTransId="{63828523-A60A-485F-93B7-384C92902F76}"/>
    <dgm:cxn modelId="{FB10FC17-21DC-B84B-97A1-7CFBA20957C7}" type="presOf" srcId="{FF32D419-C5CB-48A9-B951-4583B02FBB64}" destId="{0D4AFF7E-D49D-A44C-B8FE-36AC834AD41D}" srcOrd="0" destOrd="0" presId="urn:microsoft.com/office/officeart/2005/8/layout/default"/>
    <dgm:cxn modelId="{F25FB333-A1C1-954A-84D8-FEE4E9CC29E6}" type="presOf" srcId="{5BCABDE5-D1A2-4B6D-8743-4223790AF9AC}" destId="{862D654C-3BD1-434F-AEB7-91FC94392BA5}" srcOrd="0" destOrd="2" presId="urn:microsoft.com/office/officeart/2005/8/layout/default"/>
    <dgm:cxn modelId="{1AF1C262-92BA-564F-AC47-95A99D3B44C7}" type="presOf" srcId="{077851AB-F078-4146-8945-BC18B3DD9A47}" destId="{C2C396FB-7325-AB4E-907A-D667295D437D}" srcOrd="0" destOrd="0" presId="urn:microsoft.com/office/officeart/2005/8/layout/default"/>
    <dgm:cxn modelId="{DD031664-3731-334C-9BB7-D8142CB3476B}" type="presOf" srcId="{B62ABCBA-3A3A-4FDB-A441-1FA0BF211EE1}" destId="{862D654C-3BD1-434F-AEB7-91FC94392BA5}" srcOrd="0" destOrd="1" presId="urn:microsoft.com/office/officeart/2005/8/layout/default"/>
    <dgm:cxn modelId="{CC50E369-4163-4F21-9FAB-1D32A7E4B5BB}" srcId="{FF32D419-C5CB-48A9-B951-4583B02FBB64}" destId="{8C627F39-9625-4924-BDA4-1E22F3FC11D4}" srcOrd="1" destOrd="0" parTransId="{CB6951C0-D8F8-4C5E-B689-BD7488A8FF2D}" sibTransId="{55322009-909B-4AA0-929D-20AA53D51637}"/>
    <dgm:cxn modelId="{5629B476-3ED4-B748-850B-ECB3AEB4CEFD}" type="presOf" srcId="{5245D532-70B2-49F6-82D2-DC40A0E1AB57}" destId="{0D4AFF7E-D49D-A44C-B8FE-36AC834AD41D}" srcOrd="0" destOrd="1" presId="urn:microsoft.com/office/officeart/2005/8/layout/default"/>
    <dgm:cxn modelId="{E88B5B90-2FBB-0940-A75A-E12226A2ECEB}" type="presOf" srcId="{8C627F39-9625-4924-BDA4-1E22F3FC11D4}" destId="{0D4AFF7E-D49D-A44C-B8FE-36AC834AD41D}" srcOrd="0" destOrd="2" presId="urn:microsoft.com/office/officeart/2005/8/layout/default"/>
    <dgm:cxn modelId="{06A1CCB7-5831-4AE6-B8CA-D7A2FA828B55}" srcId="{34A6DCD3-D65E-4429-8031-3079034F29E7}" destId="{B62ABCBA-3A3A-4FDB-A441-1FA0BF211EE1}" srcOrd="0" destOrd="0" parTransId="{93A0EF10-028B-4EBE-8701-6247EFA945E9}" sibTransId="{BD1261CE-74B6-44E1-86E8-1499FD771478}"/>
    <dgm:cxn modelId="{63025DCD-EE36-2E4E-9503-D0CAE4FF1D85}" type="presOf" srcId="{34A6DCD3-D65E-4429-8031-3079034F29E7}" destId="{862D654C-3BD1-434F-AEB7-91FC94392BA5}" srcOrd="0" destOrd="0" presId="urn:microsoft.com/office/officeart/2005/8/layout/default"/>
    <dgm:cxn modelId="{5D45B3CE-0A81-4DF1-A4C9-163E48F0773E}" srcId="{077851AB-F078-4146-8945-BC18B3DD9A47}" destId="{34A6DCD3-D65E-4429-8031-3079034F29E7}" srcOrd="0" destOrd="0" parTransId="{4053A8FE-E57D-4AD3-8773-EE1CE966BFEC}" sibTransId="{8F7E3AB2-09A0-457B-967B-FC02B25F4C1C}"/>
    <dgm:cxn modelId="{787CB8D0-9BA5-4B61-BF42-8A9B103E01B8}" srcId="{34A6DCD3-D65E-4429-8031-3079034F29E7}" destId="{5BCABDE5-D1A2-4B6D-8743-4223790AF9AC}" srcOrd="1" destOrd="0" parTransId="{9D29285F-0B9A-4307-BFF6-1FAF42A331C7}" sibTransId="{707E53D3-8E66-474C-9F90-43C9206C513A}"/>
    <dgm:cxn modelId="{ED4CB6ED-E432-4AF3-97BF-26E5883FC6F5}" srcId="{077851AB-F078-4146-8945-BC18B3DD9A47}" destId="{FF32D419-C5CB-48A9-B951-4583B02FBB64}" srcOrd="1" destOrd="0" parTransId="{697E5D1A-DE42-4B0E-90BD-32D9F0DD2E68}" sibTransId="{3BA099E7-8935-4BAA-85AB-C7AAB906372A}"/>
    <dgm:cxn modelId="{A72C3BAF-2CE4-5343-9467-B700689F44DA}" type="presParOf" srcId="{C2C396FB-7325-AB4E-907A-D667295D437D}" destId="{862D654C-3BD1-434F-AEB7-91FC94392BA5}" srcOrd="0" destOrd="0" presId="urn:microsoft.com/office/officeart/2005/8/layout/default"/>
    <dgm:cxn modelId="{01AF0F1C-E7ED-D447-81FE-02D10941E885}" type="presParOf" srcId="{C2C396FB-7325-AB4E-907A-D667295D437D}" destId="{A105F7DE-8BF3-3E47-8711-F228BF9D7595}" srcOrd="1" destOrd="0" presId="urn:microsoft.com/office/officeart/2005/8/layout/default"/>
    <dgm:cxn modelId="{ADAF7A36-6560-744E-B9BA-34E80905B184}" type="presParOf" srcId="{C2C396FB-7325-AB4E-907A-D667295D437D}" destId="{0D4AFF7E-D49D-A44C-B8FE-36AC834AD41D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D654C-3BD1-434F-AEB7-91FC94392BA5}">
      <dsp:nvSpPr>
        <dsp:cNvPr id="0" name=""/>
        <dsp:cNvSpPr/>
      </dsp:nvSpPr>
      <dsp:spPr>
        <a:xfrm>
          <a:off x="1288" y="175067"/>
          <a:ext cx="5024344" cy="3014606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2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1" kern="1200" dirty="0"/>
            <a:t>Достоинства:</a:t>
          </a:r>
          <a:endParaRPr lang="en-US" sz="3200" b="1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500" kern="1200"/>
            <a:t>Более быстрое вычисление из-за параллелизации </a:t>
          </a:r>
          <a:r>
            <a:rPr lang="en-US" sz="2500" kern="1200"/>
            <a:t>MoE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500" kern="1200"/>
            <a:t>Следствие – возможность увеличения сложности моделей</a:t>
          </a:r>
          <a:endParaRPr lang="en-US" sz="2500" kern="1200"/>
        </a:p>
      </dsp:txBody>
      <dsp:txXfrm>
        <a:off x="1288" y="175067"/>
        <a:ext cx="5024344" cy="3014606"/>
      </dsp:txXfrm>
    </dsp:sp>
    <dsp:sp modelId="{0D4AFF7E-D49D-A44C-B8FE-36AC834AD41D}">
      <dsp:nvSpPr>
        <dsp:cNvPr id="0" name=""/>
        <dsp:cNvSpPr/>
      </dsp:nvSpPr>
      <dsp:spPr>
        <a:xfrm>
          <a:off x="5528067" y="175067"/>
          <a:ext cx="5024344" cy="3014606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113439"/>
                <a:satOff val="13039"/>
                <a:lumOff val="-10393"/>
                <a:alphaOff val="0"/>
                <a:tint val="98000"/>
                <a:lumMod val="102000"/>
              </a:schemeClr>
              <a:schemeClr val="accent2">
                <a:hueOff val="113439"/>
                <a:satOff val="13039"/>
                <a:lumOff val="-10393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1" kern="1200" dirty="0"/>
            <a:t>Недостатки:</a:t>
          </a:r>
          <a:endParaRPr lang="en-US" sz="3200" b="1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500" kern="1200"/>
            <a:t>Все веса должны быть доступны на </a:t>
          </a:r>
          <a:r>
            <a:rPr lang="en-US" sz="2500" kern="1200"/>
            <a:t>VRAM</a:t>
          </a:r>
          <a:r>
            <a:rPr lang="ru-RU" sz="2500" kern="1200"/>
            <a:t>. Требуется много ресурсов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500" kern="1200"/>
            <a:t>Сложности при обучении с </a:t>
          </a:r>
          <a:r>
            <a:rPr lang="en-US" sz="2500" kern="1200"/>
            <a:t>GPU </a:t>
          </a:r>
          <a:r>
            <a:rPr lang="ru-RU" sz="2500" kern="1200"/>
            <a:t>и </a:t>
          </a:r>
          <a:r>
            <a:rPr lang="en-US" sz="2500" kern="1200"/>
            <a:t>TPU</a:t>
          </a:r>
        </a:p>
      </dsp:txBody>
      <dsp:txXfrm>
        <a:off x="5528067" y="175067"/>
        <a:ext cx="5024344" cy="3014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1359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51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56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96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48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6189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308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347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49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887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405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718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701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83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2B2BDB89-4EF6-4A02-B230-5373F05B5DEC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6E2AFBDE-AF98-4D96-9F3F-CF85A3F8F3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924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FE8DED1-24FF-4A79-873B-ECE3ABE73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0AA6A048-501A-4387-906B-B8A8543E7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7093" y="643467"/>
            <a:ext cx="10917814" cy="5571066"/>
          </a:xfrm>
          <a:custGeom>
            <a:avLst/>
            <a:gdLst>
              <a:gd name="connsiteX0" fmla="*/ 195712 w 10917814"/>
              <a:gd name="connsiteY0" fmla="*/ 0 h 5571066"/>
              <a:gd name="connsiteX1" fmla="*/ 5062165 w 10917814"/>
              <a:gd name="connsiteY1" fmla="*/ 0 h 5571066"/>
              <a:gd name="connsiteX2" fmla="*/ 5419638 w 10917814"/>
              <a:gd name="connsiteY2" fmla="*/ 268105 h 5571066"/>
              <a:gd name="connsiteX3" fmla="*/ 5428105 w 10917814"/>
              <a:gd name="connsiteY3" fmla="*/ 271280 h 5571066"/>
              <a:gd name="connsiteX4" fmla="*/ 5440804 w 10917814"/>
              <a:gd name="connsiteY4" fmla="*/ 276043 h 5571066"/>
              <a:gd name="connsiteX5" fmla="*/ 5453505 w 10917814"/>
              <a:gd name="connsiteY5" fmla="*/ 280805 h 5571066"/>
              <a:gd name="connsiteX6" fmla="*/ 5464088 w 10917814"/>
              <a:gd name="connsiteY6" fmla="*/ 280805 h 5571066"/>
              <a:gd name="connsiteX7" fmla="*/ 5476788 w 10917814"/>
              <a:gd name="connsiteY7" fmla="*/ 280805 h 5571066"/>
              <a:gd name="connsiteX8" fmla="*/ 5487371 w 10917814"/>
              <a:gd name="connsiteY8" fmla="*/ 276043 h 5571066"/>
              <a:gd name="connsiteX9" fmla="*/ 5500071 w 10917814"/>
              <a:gd name="connsiteY9" fmla="*/ 271280 h 5571066"/>
              <a:gd name="connsiteX10" fmla="*/ 5508538 w 10917814"/>
              <a:gd name="connsiteY10" fmla="*/ 268105 h 5571066"/>
              <a:gd name="connsiteX11" fmla="*/ 5866011 w 10917814"/>
              <a:gd name="connsiteY11" fmla="*/ 0 h 5571066"/>
              <a:gd name="connsiteX12" fmla="*/ 10722102 w 10917814"/>
              <a:gd name="connsiteY12" fmla="*/ 0 h 5571066"/>
              <a:gd name="connsiteX13" fmla="*/ 10917814 w 10917814"/>
              <a:gd name="connsiteY13" fmla="*/ 195712 h 5571066"/>
              <a:gd name="connsiteX14" fmla="*/ 10917814 w 10917814"/>
              <a:gd name="connsiteY14" fmla="*/ 5375354 h 5571066"/>
              <a:gd name="connsiteX15" fmla="*/ 10722102 w 10917814"/>
              <a:gd name="connsiteY15" fmla="*/ 5571066 h 5571066"/>
              <a:gd name="connsiteX16" fmla="*/ 195712 w 10917814"/>
              <a:gd name="connsiteY16" fmla="*/ 5571066 h 5571066"/>
              <a:gd name="connsiteX17" fmla="*/ 0 w 10917814"/>
              <a:gd name="connsiteY17" fmla="*/ 5375354 h 5571066"/>
              <a:gd name="connsiteX18" fmla="*/ 0 w 10917814"/>
              <a:gd name="connsiteY18" fmla="*/ 195712 h 5571066"/>
              <a:gd name="connsiteX19" fmla="*/ 195712 w 10917814"/>
              <a:gd name="connsiteY19" fmla="*/ 0 h 557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917814" h="5571066">
                <a:moveTo>
                  <a:pt x="195712" y="0"/>
                </a:moveTo>
                <a:lnTo>
                  <a:pt x="5062165" y="0"/>
                </a:lnTo>
                <a:lnTo>
                  <a:pt x="5419638" y="268105"/>
                </a:lnTo>
                <a:lnTo>
                  <a:pt x="5428105" y="271280"/>
                </a:lnTo>
                <a:lnTo>
                  <a:pt x="5440804" y="276043"/>
                </a:lnTo>
                <a:lnTo>
                  <a:pt x="5453505" y="280805"/>
                </a:lnTo>
                <a:lnTo>
                  <a:pt x="5464088" y="280805"/>
                </a:lnTo>
                <a:lnTo>
                  <a:pt x="5476788" y="280805"/>
                </a:lnTo>
                <a:lnTo>
                  <a:pt x="5487371" y="276043"/>
                </a:lnTo>
                <a:lnTo>
                  <a:pt x="5500071" y="271280"/>
                </a:lnTo>
                <a:lnTo>
                  <a:pt x="5508538" y="268105"/>
                </a:lnTo>
                <a:lnTo>
                  <a:pt x="5866011" y="0"/>
                </a:lnTo>
                <a:lnTo>
                  <a:pt x="10722102" y="0"/>
                </a:lnTo>
                <a:cubicBezTo>
                  <a:pt x="10830191" y="0"/>
                  <a:pt x="10917814" y="87623"/>
                  <a:pt x="10917814" y="195712"/>
                </a:cubicBezTo>
                <a:lnTo>
                  <a:pt x="10917814" y="5375354"/>
                </a:lnTo>
                <a:cubicBezTo>
                  <a:pt x="10917814" y="5483443"/>
                  <a:pt x="10830191" y="5571066"/>
                  <a:pt x="10722102" y="5571066"/>
                </a:cubicBezTo>
                <a:lnTo>
                  <a:pt x="195712" y="5571066"/>
                </a:lnTo>
                <a:cubicBezTo>
                  <a:pt x="87623" y="5571066"/>
                  <a:pt x="0" y="5483443"/>
                  <a:pt x="0" y="5375354"/>
                </a:cubicBezTo>
                <a:lnTo>
                  <a:pt x="0" y="195712"/>
                </a:lnTo>
                <a:cubicBezTo>
                  <a:pt x="0" y="87623"/>
                  <a:pt x="87623" y="0"/>
                  <a:pt x="195712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0791A8-59B4-FA63-C36E-5022350ED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559" y="1286935"/>
            <a:ext cx="9638153" cy="2668377"/>
          </a:xfrm>
          <a:effectLst/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Введение в</a:t>
            </a:r>
            <a:r>
              <a:rPr lang="en-US" dirty="0">
                <a:solidFill>
                  <a:schemeClr val="tx1"/>
                </a:solidFill>
              </a:rPr>
              <a:t> Mixture-of-Experts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9788C7-4AB5-5E04-FB9A-810BEE043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0559" y="4116179"/>
            <a:ext cx="9638153" cy="1599642"/>
          </a:xfrm>
          <a:effectLst/>
        </p:spPr>
        <p:txBody>
          <a:bodyPr>
            <a:normAutofit/>
          </a:bodyPr>
          <a:lstStyle/>
          <a:p>
            <a:pPr algn="ctr"/>
            <a:r>
              <a:rPr lang="ru-RU"/>
              <a:t>Голубева Алёна Алексеевна 522,</a:t>
            </a:r>
          </a:p>
          <a:p>
            <a:pPr algn="ctr"/>
            <a:r>
              <a:rPr lang="ru-RU"/>
              <a:t>Стан Илья Андреевич 520</a:t>
            </a:r>
          </a:p>
        </p:txBody>
      </p:sp>
    </p:spTree>
    <p:extLst>
      <p:ext uri="{BB962C8B-B14F-4D97-AF65-F5344CB8AC3E}">
        <p14:creationId xmlns:p14="http://schemas.microsoft.com/office/powerpoint/2010/main" val="22760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D09AA-08A8-0DA2-CC7B-5F388EE25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CB352-B334-D7E7-D7D4-4D453EA03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5359921" cy="9704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FFN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1AA19F-EC94-7772-AA55-B61BB696CD5E}"/>
              </a:ext>
            </a:extLst>
          </p:cNvPr>
          <p:cNvSpPr txBox="1"/>
          <p:nvPr/>
        </p:nvSpPr>
        <p:spPr>
          <a:xfrm>
            <a:off x="281353" y="2421579"/>
            <a:ext cx="7631723" cy="36365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000" dirty="0"/>
              <a:t> FFN - "Feedforward Neural Network”;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000" dirty="0"/>
              <a:t> </a:t>
            </a:r>
            <a:r>
              <a:rPr lang="en-US" sz="2000" dirty="0" err="1"/>
              <a:t>Структура</a:t>
            </a:r>
            <a:r>
              <a:rPr lang="en-US" sz="2000" dirty="0"/>
              <a:t>: FFN </a:t>
            </a:r>
            <a:r>
              <a:rPr lang="en-US" sz="2000" dirty="0" err="1"/>
              <a:t>состоит</a:t>
            </a:r>
            <a:r>
              <a:rPr lang="en-US" sz="2000" dirty="0"/>
              <a:t> </a:t>
            </a:r>
            <a:r>
              <a:rPr lang="en-US" sz="2000" dirty="0" err="1"/>
              <a:t>из</a:t>
            </a:r>
            <a:r>
              <a:rPr lang="en-US" sz="2000" dirty="0"/>
              <a:t> </a:t>
            </a:r>
            <a:r>
              <a:rPr lang="en-US" sz="2000" dirty="0" err="1"/>
              <a:t>одного</a:t>
            </a:r>
            <a:r>
              <a:rPr lang="en-US" sz="2000" dirty="0"/>
              <a:t> </a:t>
            </a:r>
            <a:r>
              <a:rPr lang="en-US" sz="2000" dirty="0" err="1"/>
              <a:t>или</a:t>
            </a:r>
            <a:r>
              <a:rPr lang="en-US" sz="2000" dirty="0"/>
              <a:t> </a:t>
            </a:r>
            <a:r>
              <a:rPr lang="en-US" sz="2000" dirty="0" err="1"/>
              <a:t>нескольких</a:t>
            </a:r>
            <a:r>
              <a:rPr lang="en-US" sz="2000" dirty="0"/>
              <a:t> </a:t>
            </a:r>
            <a:r>
              <a:rPr lang="en-US" sz="2000" dirty="0" err="1"/>
              <a:t>слоев</a:t>
            </a:r>
            <a:r>
              <a:rPr lang="en-US" sz="2000" dirty="0"/>
              <a:t>. </a:t>
            </a:r>
            <a:r>
              <a:rPr lang="en-US" sz="2000" dirty="0" err="1"/>
              <a:t>Существует</a:t>
            </a:r>
            <a:r>
              <a:rPr lang="en-US" sz="2000" dirty="0"/>
              <a:t> </a:t>
            </a:r>
            <a:r>
              <a:rPr lang="en-US" sz="2000" dirty="0" err="1"/>
              <a:t>три</a:t>
            </a:r>
            <a:r>
              <a:rPr lang="en-US" sz="2000" dirty="0"/>
              <a:t> </a:t>
            </a:r>
            <a:r>
              <a:rPr lang="en-US" sz="2000" dirty="0" err="1"/>
              <a:t>основных</a:t>
            </a:r>
            <a:r>
              <a:rPr lang="en-US" sz="2000" dirty="0"/>
              <a:t> </a:t>
            </a:r>
            <a:r>
              <a:rPr lang="en-US" sz="2000" dirty="0" err="1"/>
              <a:t>типа</a:t>
            </a:r>
            <a:r>
              <a:rPr lang="en-US" sz="2000" dirty="0"/>
              <a:t> </a:t>
            </a:r>
            <a:r>
              <a:rPr lang="en-US" sz="2000" dirty="0" err="1"/>
              <a:t>слоев</a:t>
            </a:r>
            <a:r>
              <a:rPr lang="en-US" sz="2000" dirty="0"/>
              <a:t>: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ru-RU" sz="2000" dirty="0"/>
              <a:t>	</a:t>
            </a:r>
            <a:r>
              <a:rPr lang="en-US" sz="2000" dirty="0"/>
              <a:t> -  </a:t>
            </a:r>
            <a:r>
              <a:rPr lang="en-US" sz="2000" dirty="0" err="1"/>
              <a:t>Входной</a:t>
            </a:r>
            <a:r>
              <a:rPr lang="en-US" sz="2000" dirty="0"/>
              <a:t> </a:t>
            </a:r>
            <a:r>
              <a:rPr lang="en-US" sz="2000" dirty="0" err="1"/>
              <a:t>слой</a:t>
            </a:r>
            <a:r>
              <a:rPr lang="en-US" sz="2000" dirty="0"/>
              <a:t>;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2000" dirty="0"/>
              <a:t> </a:t>
            </a:r>
            <a:r>
              <a:rPr lang="ru-RU" sz="2000" dirty="0"/>
              <a:t>	</a:t>
            </a:r>
            <a:r>
              <a:rPr lang="en-US" sz="2000" dirty="0"/>
              <a:t>-  </a:t>
            </a:r>
            <a:r>
              <a:rPr lang="en-US" sz="2000" dirty="0" err="1"/>
              <a:t>Скрытые</a:t>
            </a:r>
            <a:r>
              <a:rPr lang="en-US" sz="2000" dirty="0"/>
              <a:t> </a:t>
            </a:r>
            <a:r>
              <a:rPr lang="en-US" sz="2000" dirty="0" err="1"/>
              <a:t>слои</a:t>
            </a:r>
            <a:r>
              <a:rPr lang="en-US" sz="2000" dirty="0"/>
              <a:t>;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2000" dirty="0"/>
              <a:t> </a:t>
            </a:r>
            <a:r>
              <a:rPr lang="ru-RU" sz="2000" dirty="0"/>
              <a:t>	</a:t>
            </a:r>
            <a:r>
              <a:rPr lang="en-US" sz="2000" dirty="0"/>
              <a:t>- </a:t>
            </a:r>
            <a:r>
              <a:rPr lang="en-US" sz="2000" dirty="0" err="1"/>
              <a:t>Выходной</a:t>
            </a:r>
            <a:r>
              <a:rPr lang="en-US" sz="2000" dirty="0"/>
              <a:t> </a:t>
            </a:r>
            <a:r>
              <a:rPr lang="en-US" sz="2000" dirty="0" err="1"/>
              <a:t>слой</a:t>
            </a:r>
            <a:r>
              <a:rPr lang="en-US" sz="2000" dirty="0"/>
              <a:t>;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000" dirty="0"/>
              <a:t> </a:t>
            </a:r>
            <a:r>
              <a:rPr lang="en-US" sz="2000" dirty="0" err="1"/>
              <a:t>В</a:t>
            </a:r>
            <a:r>
              <a:rPr lang="en-US" sz="2000" dirty="0"/>
              <a:t> </a:t>
            </a:r>
            <a:r>
              <a:rPr lang="en-US" sz="2000" dirty="0" err="1"/>
              <a:t>каждом</a:t>
            </a:r>
            <a:r>
              <a:rPr lang="en-US" sz="2000" dirty="0"/>
              <a:t> </a:t>
            </a:r>
            <a:r>
              <a:rPr lang="en-US" sz="2000" dirty="0" err="1"/>
              <a:t>слое</a:t>
            </a:r>
            <a:r>
              <a:rPr lang="en-US" sz="2000" dirty="0"/>
              <a:t> </a:t>
            </a:r>
            <a:r>
              <a:rPr lang="en-US" sz="2000" dirty="0" err="1"/>
              <a:t>применяют</a:t>
            </a:r>
            <a:r>
              <a:rPr lang="en-US" sz="2000" dirty="0"/>
              <a:t> </a:t>
            </a:r>
            <a:r>
              <a:rPr lang="en-US" sz="2000" dirty="0" err="1"/>
              <a:t>активационные</a:t>
            </a:r>
            <a:r>
              <a:rPr lang="en-US" sz="2000" dirty="0"/>
              <a:t> </a:t>
            </a:r>
            <a:r>
              <a:rPr lang="en-US" sz="2000" dirty="0" err="1"/>
              <a:t>функции</a:t>
            </a:r>
            <a:r>
              <a:rPr lang="en-US" sz="2000" dirty="0"/>
              <a:t> (</a:t>
            </a:r>
            <a:r>
              <a:rPr lang="en-US" sz="2000" dirty="0" err="1"/>
              <a:t>ReLU</a:t>
            </a:r>
            <a:r>
              <a:rPr lang="en-US" sz="2000" dirty="0"/>
              <a:t>, </a:t>
            </a:r>
            <a:r>
              <a:rPr lang="en-US" sz="2000" dirty="0" err="1"/>
              <a:t>сигмоида</a:t>
            </a:r>
            <a:r>
              <a:rPr lang="en-US" sz="2000" dirty="0"/>
              <a:t> </a:t>
            </a:r>
            <a:r>
              <a:rPr lang="en-US" sz="2000" dirty="0" err="1"/>
              <a:t>или</a:t>
            </a:r>
            <a:r>
              <a:rPr lang="en-US" sz="2000" dirty="0"/>
              <a:t> tanh);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000" dirty="0"/>
              <a:t> </a:t>
            </a:r>
            <a:r>
              <a:rPr lang="en-US" sz="2000" dirty="0" err="1"/>
              <a:t>Обучение</a:t>
            </a:r>
            <a:r>
              <a:rPr lang="en-US" sz="2000" dirty="0"/>
              <a:t>: FFN </a:t>
            </a:r>
            <a:r>
              <a:rPr lang="en-US" sz="2000" dirty="0" err="1"/>
              <a:t>обычно</a:t>
            </a:r>
            <a:r>
              <a:rPr lang="en-US" sz="2000" dirty="0"/>
              <a:t> </a:t>
            </a:r>
            <a:r>
              <a:rPr lang="en-US" sz="2000" dirty="0" err="1"/>
              <a:t>обучается</a:t>
            </a:r>
            <a:r>
              <a:rPr lang="en-US" sz="2000" dirty="0"/>
              <a:t> </a:t>
            </a:r>
            <a:r>
              <a:rPr lang="en-US" sz="2000" dirty="0" err="1"/>
              <a:t>с</a:t>
            </a:r>
            <a:r>
              <a:rPr lang="en-US" sz="2000" dirty="0"/>
              <a:t> </a:t>
            </a:r>
            <a:r>
              <a:rPr lang="en-US" sz="2000" dirty="0" err="1"/>
              <a:t>помощью</a:t>
            </a:r>
            <a:r>
              <a:rPr lang="en-US" sz="2000" dirty="0"/>
              <a:t> </a:t>
            </a:r>
            <a:r>
              <a:rPr lang="en-US" sz="2000" dirty="0" err="1"/>
              <a:t>метода</a:t>
            </a:r>
            <a:r>
              <a:rPr lang="en-US" sz="2000" dirty="0"/>
              <a:t> </a:t>
            </a:r>
            <a:r>
              <a:rPr lang="en-US" sz="2000" dirty="0" err="1"/>
              <a:t>обратного</a:t>
            </a:r>
            <a:r>
              <a:rPr lang="en-US" sz="2000" dirty="0"/>
              <a:t> </a:t>
            </a:r>
            <a:r>
              <a:rPr lang="en-US" sz="2000" dirty="0" err="1"/>
              <a:t>распространения</a:t>
            </a:r>
            <a:r>
              <a:rPr lang="en-US" sz="2000" dirty="0"/>
              <a:t> </a:t>
            </a:r>
            <a:r>
              <a:rPr lang="en-US" sz="2000" dirty="0" err="1"/>
              <a:t>ошибки</a:t>
            </a:r>
            <a:r>
              <a:rPr lang="en-US" sz="2000" dirty="0"/>
              <a:t> (backpropagation).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2A16DB0-9683-4E53-5B70-8AA262ED1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370" y="2117727"/>
            <a:ext cx="4211061" cy="3169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313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931D8D-4D44-4DE2-FBB3-306CF599A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Что такое MoE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A23BE-64AF-2F63-E94B-609B61F6C1FC}"/>
              </a:ext>
            </a:extLst>
          </p:cNvPr>
          <p:cNvSpPr txBox="1"/>
          <p:nvPr/>
        </p:nvSpPr>
        <p:spPr>
          <a:xfrm>
            <a:off x="5894023" y="484742"/>
            <a:ext cx="5846462" cy="430999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600" dirty="0" err="1"/>
              <a:t>Ансамблевая</a:t>
            </a:r>
            <a:r>
              <a:rPr lang="en-US" sz="1600" dirty="0"/>
              <a:t> </a:t>
            </a:r>
            <a:r>
              <a:rPr lang="en-US" sz="1600" dirty="0" err="1"/>
              <a:t>модель</a:t>
            </a:r>
            <a:r>
              <a:rPr lang="en-US" sz="1600" dirty="0"/>
              <a:t>, </a:t>
            </a:r>
            <a:r>
              <a:rPr lang="en-US" sz="1600" dirty="0" err="1"/>
              <a:t>где</a:t>
            </a:r>
            <a:r>
              <a:rPr lang="en-US" sz="1600" dirty="0"/>
              <a:t>  </a:t>
            </a:r>
            <a:r>
              <a:rPr lang="en-US" sz="1600" dirty="0" err="1"/>
              <a:t>в</a:t>
            </a:r>
            <a:r>
              <a:rPr lang="en-US" sz="1600" dirty="0"/>
              <a:t> </a:t>
            </a:r>
            <a:r>
              <a:rPr lang="en-US" sz="1600" dirty="0" err="1"/>
              <a:t>принятии</a:t>
            </a:r>
            <a:r>
              <a:rPr lang="en-US" sz="1600" dirty="0"/>
              <a:t> </a:t>
            </a:r>
            <a:r>
              <a:rPr lang="en-US" sz="1600" dirty="0" err="1"/>
              <a:t>решения</a:t>
            </a:r>
            <a:r>
              <a:rPr lang="en-US" sz="1600" dirty="0"/>
              <a:t> </a:t>
            </a:r>
            <a:r>
              <a:rPr lang="en-US" sz="1600" dirty="0" err="1"/>
              <a:t>принима</a:t>
            </a:r>
            <a:r>
              <a:rPr lang="ru-RU" sz="1600" dirty="0"/>
              <a:t>е</a:t>
            </a:r>
            <a:r>
              <a:rPr lang="en-US" sz="1600" dirty="0" err="1"/>
              <a:t>т</a:t>
            </a:r>
            <a:r>
              <a:rPr lang="en-US" sz="1600" dirty="0"/>
              <a:t> </a:t>
            </a:r>
            <a:r>
              <a:rPr lang="en-US" sz="1600" dirty="0" err="1"/>
              <a:t>участие</a:t>
            </a:r>
            <a:r>
              <a:rPr lang="en-US" sz="1600" dirty="0"/>
              <a:t> </a:t>
            </a:r>
            <a:r>
              <a:rPr lang="en-US" sz="1600" dirty="0" err="1"/>
              <a:t>выбранная</a:t>
            </a:r>
            <a:r>
              <a:rPr lang="en-US" sz="1600" dirty="0"/>
              <a:t> </a:t>
            </a:r>
            <a:r>
              <a:rPr lang="en-US" sz="1600" dirty="0" err="1"/>
              <a:t>часть</a:t>
            </a:r>
            <a:r>
              <a:rPr lang="en-US" sz="1600" dirty="0"/>
              <a:t> </a:t>
            </a:r>
            <a:r>
              <a:rPr lang="en-US" sz="1600" dirty="0" err="1"/>
              <a:t>экспертов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600" dirty="0" err="1"/>
              <a:t>Служит</a:t>
            </a:r>
            <a:r>
              <a:rPr lang="en-US" sz="1600" dirty="0"/>
              <a:t> </a:t>
            </a:r>
            <a:r>
              <a:rPr lang="en-US" sz="1600" dirty="0" err="1"/>
              <a:t>для</a:t>
            </a:r>
            <a:r>
              <a:rPr lang="en-US" sz="1600" dirty="0"/>
              <a:t> </a:t>
            </a:r>
            <a:r>
              <a:rPr lang="en-US" sz="1600" dirty="0" err="1"/>
              <a:t>замены</a:t>
            </a:r>
            <a:r>
              <a:rPr lang="en-US" sz="1600" dirty="0"/>
              <a:t> FFN </a:t>
            </a:r>
            <a:r>
              <a:rPr lang="en-US" sz="1600" dirty="0" err="1"/>
              <a:t>слоёв</a:t>
            </a:r>
            <a:r>
              <a:rPr lang="en-US" sz="1600" dirty="0"/>
              <a:t>, </a:t>
            </a:r>
            <a:r>
              <a:rPr lang="en-US" sz="1600" dirty="0" err="1"/>
              <a:t>в</a:t>
            </a:r>
            <a:r>
              <a:rPr lang="en-US" sz="1600" dirty="0"/>
              <a:t> </a:t>
            </a:r>
            <a:r>
              <a:rPr lang="en-US" sz="1600" dirty="0" err="1"/>
              <a:t>том</a:t>
            </a:r>
            <a:r>
              <a:rPr lang="en-US" sz="1600" dirty="0"/>
              <a:t> </a:t>
            </a:r>
            <a:r>
              <a:rPr lang="en-US" sz="1600" dirty="0" err="1"/>
              <a:t>числе</a:t>
            </a:r>
            <a:r>
              <a:rPr lang="en-US" sz="1600" dirty="0"/>
              <a:t>, </a:t>
            </a:r>
            <a:r>
              <a:rPr lang="en-US" sz="1600" dirty="0" err="1"/>
              <a:t>в</a:t>
            </a:r>
            <a:r>
              <a:rPr lang="en-US" sz="1600" dirty="0"/>
              <a:t> </a:t>
            </a:r>
            <a:r>
              <a:rPr lang="en-US" sz="1600" dirty="0" err="1"/>
              <a:t>трансформерах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endParaRPr lang="en-US" sz="1600" dirty="0"/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600" dirty="0" err="1"/>
              <a:t>Компоненты</a:t>
            </a:r>
            <a:r>
              <a:rPr lang="en-US" sz="1600" dirty="0"/>
              <a:t> </a:t>
            </a:r>
            <a:r>
              <a:rPr lang="en-US" sz="1600" dirty="0" err="1"/>
              <a:t>архитектуры</a:t>
            </a:r>
            <a:r>
              <a:rPr lang="en-US" sz="1600" dirty="0"/>
              <a:t>: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600" dirty="0" err="1"/>
              <a:t>Эксперты</a:t>
            </a:r>
            <a:r>
              <a:rPr lang="en-US" sz="1600" dirty="0"/>
              <a:t> – </a:t>
            </a:r>
            <a:r>
              <a:rPr lang="en-US" sz="1600" dirty="0" err="1"/>
              <a:t>нейросеть</a:t>
            </a:r>
            <a:r>
              <a:rPr lang="en-US" sz="1600" dirty="0"/>
              <a:t>, </a:t>
            </a:r>
            <a:r>
              <a:rPr lang="en-US" sz="1600" dirty="0" err="1"/>
              <a:t>выдающая</a:t>
            </a:r>
            <a:r>
              <a:rPr lang="en-US" sz="1600" dirty="0"/>
              <a:t> </a:t>
            </a:r>
            <a:r>
              <a:rPr lang="en-US" sz="1600" dirty="0" err="1"/>
              <a:t>ответ</a:t>
            </a:r>
            <a:r>
              <a:rPr lang="en-US" sz="1600" dirty="0"/>
              <a:t> </a:t>
            </a:r>
            <a:r>
              <a:rPr lang="en-US" sz="1600" dirty="0" err="1"/>
              <a:t>для</a:t>
            </a:r>
            <a:r>
              <a:rPr lang="en-US" sz="1600" dirty="0"/>
              <a:t> </a:t>
            </a:r>
            <a:r>
              <a:rPr lang="en-US" sz="1600" dirty="0" err="1"/>
              <a:t>части</a:t>
            </a:r>
            <a:r>
              <a:rPr lang="en-US" sz="1600" dirty="0"/>
              <a:t> </a:t>
            </a:r>
            <a:r>
              <a:rPr lang="en-US" sz="1600" dirty="0" err="1"/>
              <a:t>назначенных</a:t>
            </a:r>
            <a:r>
              <a:rPr lang="en-US" sz="1600" dirty="0"/>
              <a:t> </a:t>
            </a:r>
            <a:r>
              <a:rPr lang="en-US" sz="1600" dirty="0" err="1"/>
              <a:t>ей</a:t>
            </a:r>
            <a:r>
              <a:rPr lang="en-US" sz="1600" dirty="0"/>
              <a:t> </a:t>
            </a:r>
            <a:r>
              <a:rPr lang="en-US" sz="1600" dirty="0" err="1"/>
              <a:t>токенов</a:t>
            </a:r>
            <a:r>
              <a:rPr lang="en-US" sz="1600" dirty="0"/>
              <a:t>,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600" dirty="0" err="1"/>
              <a:t>Распределитель</a:t>
            </a:r>
            <a:r>
              <a:rPr lang="en-US" sz="1600" dirty="0"/>
              <a:t> – </a:t>
            </a:r>
            <a:r>
              <a:rPr lang="en-US" sz="1600" dirty="0" err="1"/>
              <a:t>нейросеть</a:t>
            </a:r>
            <a:r>
              <a:rPr lang="en-US" sz="1600" dirty="0"/>
              <a:t>, </a:t>
            </a:r>
            <a:r>
              <a:rPr lang="en-US" sz="1600" dirty="0" err="1"/>
              <a:t>принимающая</a:t>
            </a:r>
            <a:r>
              <a:rPr lang="en-US" sz="1600" dirty="0"/>
              <a:t> </a:t>
            </a:r>
            <a:r>
              <a:rPr lang="en-US" sz="1600" dirty="0" err="1"/>
              <a:t>решение</a:t>
            </a:r>
            <a:r>
              <a:rPr lang="en-US" sz="1600" dirty="0"/>
              <a:t> </a:t>
            </a:r>
            <a:r>
              <a:rPr lang="en-US" sz="1600" dirty="0" err="1"/>
              <a:t>о</a:t>
            </a:r>
            <a:r>
              <a:rPr lang="en-US" sz="1600" dirty="0"/>
              <a:t> </a:t>
            </a:r>
            <a:r>
              <a:rPr lang="en-US" sz="1600" dirty="0" err="1"/>
              <a:t>том</a:t>
            </a:r>
            <a:r>
              <a:rPr lang="en-US" sz="1600" dirty="0"/>
              <a:t>, </a:t>
            </a:r>
            <a:r>
              <a:rPr lang="en-US" sz="1600" dirty="0" err="1"/>
              <a:t>каким</a:t>
            </a:r>
            <a:r>
              <a:rPr lang="en-US" sz="1600" dirty="0"/>
              <a:t> </a:t>
            </a:r>
            <a:r>
              <a:rPr lang="en-US" sz="1600" dirty="0" err="1"/>
              <a:t>экспертам</a:t>
            </a:r>
            <a:r>
              <a:rPr lang="en-US" sz="1600" dirty="0"/>
              <a:t> </a:t>
            </a:r>
            <a:r>
              <a:rPr lang="en-US" sz="1600" dirty="0" err="1"/>
              <a:t>какие</a:t>
            </a:r>
            <a:r>
              <a:rPr lang="en-US" sz="1600" dirty="0"/>
              <a:t> </a:t>
            </a:r>
            <a:r>
              <a:rPr lang="en-US" sz="1600" dirty="0" err="1"/>
              <a:t>токены</a:t>
            </a:r>
            <a:r>
              <a:rPr lang="en-US" sz="1600" dirty="0"/>
              <a:t> </a:t>
            </a:r>
            <a:r>
              <a:rPr lang="en-US" sz="1600" dirty="0" err="1"/>
              <a:t>из</a:t>
            </a:r>
            <a:r>
              <a:rPr lang="en-US" sz="1600" dirty="0"/>
              <a:t> </a:t>
            </a:r>
            <a:r>
              <a:rPr lang="en-US" sz="1600" dirty="0" err="1"/>
              <a:t>фразы</a:t>
            </a:r>
            <a:r>
              <a:rPr lang="en-US" sz="1600" dirty="0"/>
              <a:t> </a:t>
            </a:r>
            <a:r>
              <a:rPr lang="en-US" sz="1600" dirty="0" err="1"/>
              <a:t>отправить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endParaRPr lang="en-US" sz="1600" dirty="0"/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600" dirty="0" err="1"/>
              <a:t>В</a:t>
            </a:r>
            <a:r>
              <a:rPr lang="en-US" sz="1600" dirty="0"/>
              <a:t> </a:t>
            </a:r>
            <a:r>
              <a:rPr lang="en-US" sz="1600" dirty="0" err="1"/>
              <a:t>простейшем</a:t>
            </a:r>
            <a:r>
              <a:rPr lang="en-US" sz="1600" dirty="0"/>
              <a:t> </a:t>
            </a:r>
            <a:r>
              <a:rPr lang="en-US" sz="1600" dirty="0" err="1"/>
              <a:t>случае</a:t>
            </a:r>
            <a:r>
              <a:rPr lang="en-US" sz="1600" dirty="0"/>
              <a:t> </a:t>
            </a:r>
            <a:r>
              <a:rPr lang="en-US" sz="1600" dirty="0" err="1"/>
              <a:t>эксперты</a:t>
            </a:r>
            <a:r>
              <a:rPr lang="en-US" sz="1600" dirty="0"/>
              <a:t> – FFN, </a:t>
            </a:r>
            <a:r>
              <a:rPr lang="en-US" sz="1600" dirty="0" err="1"/>
              <a:t>а</a:t>
            </a:r>
            <a:r>
              <a:rPr lang="en-US" sz="1600" dirty="0"/>
              <a:t> </a:t>
            </a:r>
            <a:r>
              <a:rPr lang="en-US" sz="1600" dirty="0" err="1"/>
              <a:t>распределитель</a:t>
            </a:r>
            <a:r>
              <a:rPr lang="en-US" sz="1600" dirty="0"/>
              <a:t> – FFN </a:t>
            </a:r>
            <a:r>
              <a:rPr lang="en-US" sz="1600" dirty="0" err="1"/>
              <a:t>с</a:t>
            </a:r>
            <a:r>
              <a:rPr lang="en-US" sz="1600" dirty="0"/>
              <a:t> SoftMax (</a:t>
            </a:r>
            <a:r>
              <a:rPr lang="en-US" sz="1600" dirty="0" err="1"/>
              <a:t>вероятность</a:t>
            </a:r>
            <a:r>
              <a:rPr lang="en-US" sz="1600" dirty="0"/>
              <a:t> </a:t>
            </a:r>
            <a:r>
              <a:rPr lang="en-US" sz="1600" dirty="0" err="1"/>
              <a:t>того</a:t>
            </a:r>
            <a:r>
              <a:rPr lang="en-US" sz="1600" dirty="0"/>
              <a:t>, </a:t>
            </a:r>
            <a:r>
              <a:rPr lang="en-US" sz="1600" dirty="0" err="1"/>
              <a:t>что</a:t>
            </a:r>
            <a:r>
              <a:rPr lang="en-US" sz="1600" dirty="0"/>
              <a:t> </a:t>
            </a:r>
            <a:r>
              <a:rPr lang="en-US" sz="1600" dirty="0" err="1"/>
              <a:t>токен</a:t>
            </a:r>
            <a:r>
              <a:rPr lang="en-US" sz="1600" dirty="0"/>
              <a:t> </a:t>
            </a:r>
            <a:r>
              <a:rPr lang="en-US" sz="1600" dirty="0" err="1"/>
              <a:t>надо</a:t>
            </a:r>
            <a:r>
              <a:rPr lang="en-US" sz="1600" dirty="0"/>
              <a:t> </a:t>
            </a:r>
            <a:r>
              <a:rPr lang="en-US" sz="1600" dirty="0" err="1"/>
              <a:t>отдать</a:t>
            </a:r>
            <a:r>
              <a:rPr lang="en-US" sz="1600" dirty="0"/>
              <a:t> </a:t>
            </a:r>
            <a:r>
              <a:rPr lang="en-US" sz="1600" dirty="0" err="1"/>
              <a:t>конкретному</a:t>
            </a:r>
            <a:r>
              <a:rPr lang="en-US" sz="1600" dirty="0"/>
              <a:t> </a:t>
            </a:r>
            <a:r>
              <a:rPr lang="en-US" sz="1600" dirty="0" err="1"/>
              <a:t>эксперту</a:t>
            </a:r>
            <a:r>
              <a:rPr lang="en-US" sz="1600" dirty="0"/>
              <a:t>):</a:t>
            </a:r>
          </a:p>
        </p:txBody>
      </p:sp>
      <p:pic>
        <p:nvPicPr>
          <p:cNvPr id="11" name="Picture 10" descr="A mathematical equation with black text&#10;&#10;Description automatically generated">
            <a:extLst>
              <a:ext uri="{FF2B5EF4-FFF2-40B4-BE49-F238E27FC236}">
                <a16:creationId xmlns:a16="http://schemas.microsoft.com/office/drawing/2014/main" id="{BB032295-6C3A-BED1-0BA9-91887B9DF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554" y="4975469"/>
            <a:ext cx="20574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61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RU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79277119-B941-4A45-9322-FA2BC135D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Freeform 23">
            <a:extLst>
              <a:ext uri="{FF2B5EF4-FFF2-40B4-BE49-F238E27FC236}">
                <a16:creationId xmlns:a16="http://schemas.microsoft.com/office/drawing/2014/main" id="{DFDB457D-F372-428B-A10D-41080EF93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7554995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8D95F5-1F43-C682-82C9-DCE1B649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4349" y="1819275"/>
            <a:ext cx="3741834" cy="42220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3700" dirty="0"/>
              <a:t>Пример использования</a:t>
            </a:r>
            <a:endParaRPr lang="en-US" sz="3700" dirty="0"/>
          </a:p>
        </p:txBody>
      </p:sp>
      <p:pic>
        <p:nvPicPr>
          <p:cNvPr id="3074" name="Picture 2" descr="Switch Layer">
            <a:extLst>
              <a:ext uri="{FF2B5EF4-FFF2-40B4-BE49-F238E27FC236}">
                <a16:creationId xmlns:a16="http://schemas.microsoft.com/office/drawing/2014/main" id="{73F9673D-62C2-C0F5-11AD-7DF73FFB30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87" t="7229" r="4717" b="32209"/>
          <a:stretch/>
        </p:blipFill>
        <p:spPr bwMode="auto">
          <a:xfrm>
            <a:off x="643467" y="809340"/>
            <a:ext cx="6268060" cy="5066150"/>
          </a:xfrm>
          <a:prstGeom prst="roundRect">
            <a:avLst>
              <a:gd name="adj" fmla="val 3876"/>
            </a:avLst>
          </a:prstGeom>
          <a:noFill/>
          <a:ln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F4D9EB-3CF2-52E1-FFF3-3D0AC2250E3A}"/>
              </a:ext>
            </a:extLst>
          </p:cNvPr>
          <p:cNvSpPr txBox="1"/>
          <p:nvPr/>
        </p:nvSpPr>
        <p:spPr>
          <a:xfrm>
            <a:off x="643467" y="253755"/>
            <a:ext cx="3719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Encoder</a:t>
            </a:r>
            <a:r>
              <a:rPr lang="ru-RU" dirty="0"/>
              <a:t> блок трансформера</a:t>
            </a:r>
            <a:endParaRPr lang="en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D0458-E389-A1D9-17E4-324C60715730}"/>
              </a:ext>
            </a:extLst>
          </p:cNvPr>
          <p:cNvSpPr txBox="1"/>
          <p:nvPr/>
        </p:nvSpPr>
        <p:spPr>
          <a:xfrm>
            <a:off x="643467" y="6061743"/>
            <a:ext cx="3892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Источник: </a:t>
            </a:r>
            <a:r>
              <a:rPr lang="en-GB" sz="1400" dirty="0"/>
              <a:t>https://</a:t>
            </a:r>
            <a:r>
              <a:rPr lang="en-GB" sz="1400" dirty="0" err="1"/>
              <a:t>arxiv.org</a:t>
            </a:r>
            <a:r>
              <a:rPr lang="en-GB" sz="1400" dirty="0"/>
              <a:t>/abs/2101.03961</a:t>
            </a:r>
            <a:endParaRPr lang="en-RU" sz="1400" dirty="0"/>
          </a:p>
        </p:txBody>
      </p:sp>
    </p:spTree>
    <p:extLst>
      <p:ext uri="{BB962C8B-B14F-4D97-AF65-F5344CB8AC3E}">
        <p14:creationId xmlns:p14="http://schemas.microsoft.com/office/powerpoint/2010/main" val="2200356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6824CE-083D-4ED5-94A5-655345BBE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85D83B-2124-40CD-9E29-811BC2B7C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B6A21-6254-2E1E-22FC-4DBF12FF9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100"/>
              <a:t>Преимущества и недостатки в сравнении с </a:t>
            </a:r>
            <a:r>
              <a:rPr lang="en-US" sz="3100"/>
              <a:t>FFN</a:t>
            </a:r>
            <a:endParaRPr lang="en-RU" sz="31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7E42F8-DCB3-FF90-6E58-4B496CAEEC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7888992"/>
              </p:ext>
            </p:extLst>
          </p:nvPr>
        </p:nvGraphicFramePr>
        <p:xfrm>
          <a:off x="819150" y="2494722"/>
          <a:ext cx="10553700" cy="3364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0641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DB5ECD7-3E50-42E6-A19E-236A01ECA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23">
            <a:extLst>
              <a:ext uri="{FF2B5EF4-FFF2-40B4-BE49-F238E27FC236}">
                <a16:creationId xmlns:a16="http://schemas.microsoft.com/office/drawing/2014/main" id="{2DA677B6-DC4D-4E3B-BA36-07FB02B5B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754974-D965-0F8B-6EE6-209A2E5AE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447188"/>
            <a:ext cx="3675318" cy="1168670"/>
          </a:xfrm>
        </p:spPr>
        <p:txBody>
          <a:bodyPr anchor="ctr">
            <a:normAutofit/>
          </a:bodyPr>
          <a:lstStyle/>
          <a:p>
            <a:r>
              <a:rPr lang="ru-RU" sz="3200" dirty="0"/>
              <a:t>Проблемы на обучении</a:t>
            </a:r>
            <a:endParaRPr lang="en-RU" sz="3200" dirty="0"/>
          </a:p>
        </p:txBody>
      </p:sp>
      <p:pic>
        <p:nvPicPr>
          <p:cNvPr id="7" name="Picture 6" descr="A multicolored squares with black text&#10;&#10;Description automatically generated">
            <a:extLst>
              <a:ext uri="{FF2B5EF4-FFF2-40B4-BE49-F238E27FC236}">
                <a16:creationId xmlns:a16="http://schemas.microsoft.com/office/drawing/2014/main" id="{B39BC8DB-9DC6-3FB4-B2BE-CE719FE9BF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8997" y="2013898"/>
            <a:ext cx="3817836" cy="3782812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7BABB5D-AB0B-08DB-FF8C-D583E3FC6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534" y="384919"/>
            <a:ext cx="7348889" cy="246187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25A14D-C437-582F-7DD4-7C2CE573438B}"/>
              </a:ext>
            </a:extLst>
          </p:cNvPr>
          <p:cNvSpPr txBox="1"/>
          <p:nvPr/>
        </p:nvSpPr>
        <p:spPr>
          <a:xfrm>
            <a:off x="233471" y="6004189"/>
            <a:ext cx="4744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Источник: </a:t>
            </a:r>
            <a:r>
              <a:rPr lang="en-GB" dirty="0"/>
              <a:t>https://</a:t>
            </a:r>
            <a:r>
              <a:rPr lang="en-GB" dirty="0" err="1"/>
              <a:t>arxiv.org</a:t>
            </a:r>
            <a:r>
              <a:rPr lang="en-GB" dirty="0"/>
              <a:t>/pdf/2211.15841</a:t>
            </a:r>
            <a:endParaRPr lang="en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9A4DF0-B29E-393E-3F44-98AA194AB57D}"/>
              </a:ext>
            </a:extLst>
          </p:cNvPr>
          <p:cNvSpPr txBox="1"/>
          <p:nvPr/>
        </p:nvSpPr>
        <p:spPr>
          <a:xfrm>
            <a:off x="4738534" y="2923939"/>
            <a:ext cx="6349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</a:rPr>
              <a:t>Источник: </a:t>
            </a:r>
            <a:r>
              <a:rPr lang="en-GB" sz="1400" dirty="0">
                <a:solidFill>
                  <a:schemeClr val="bg1"/>
                </a:solidFill>
              </a:rPr>
              <a:t>https://</a:t>
            </a:r>
            <a:r>
              <a:rPr lang="en-GB" sz="1400" dirty="0" err="1">
                <a:solidFill>
                  <a:schemeClr val="bg1"/>
                </a:solidFill>
              </a:rPr>
              <a:t>pytorch.org</a:t>
            </a:r>
            <a:r>
              <a:rPr lang="en-GB" sz="1400" dirty="0">
                <a:solidFill>
                  <a:schemeClr val="bg1"/>
                </a:solidFill>
              </a:rPr>
              <a:t>/docs/stable/generated/</a:t>
            </a:r>
            <a:r>
              <a:rPr lang="en-GB" sz="1400" dirty="0" err="1">
                <a:solidFill>
                  <a:schemeClr val="bg1"/>
                </a:solidFill>
              </a:rPr>
              <a:t>torch.bmm.html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EE393-08B7-6A61-42B1-28377B2E1D3C}"/>
              </a:ext>
            </a:extLst>
          </p:cNvPr>
          <p:cNvSpPr txBox="1"/>
          <p:nvPr/>
        </p:nvSpPr>
        <p:spPr>
          <a:xfrm>
            <a:off x="4738534" y="3439195"/>
            <a:ext cx="724245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ea typeface="+mj-ea"/>
                <a:cs typeface="+mj-cs"/>
              </a:rPr>
              <a:t>Ограничения от </a:t>
            </a:r>
            <a:r>
              <a:rPr lang="en-GB" sz="2400" dirty="0">
                <a:solidFill>
                  <a:schemeClr val="bg1"/>
                </a:solidFill>
                <a:ea typeface="+mj-ea"/>
                <a:cs typeface="+mj-cs"/>
              </a:rPr>
              <a:t>batch matrix-matrix </a:t>
            </a:r>
            <a:r>
              <a:rPr lang="ru-RU" sz="2400" dirty="0">
                <a:solidFill>
                  <a:schemeClr val="bg1"/>
                </a:solidFill>
                <a:ea typeface="+mj-ea"/>
                <a:cs typeface="+mj-cs"/>
              </a:rPr>
              <a:t>умножения</a:t>
            </a: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;</a:t>
            </a:r>
            <a:endParaRPr lang="ru-RU" sz="2400" dirty="0">
              <a:solidFill>
                <a:schemeClr val="bg1"/>
              </a:solidFill>
              <a:ea typeface="+mj-ea"/>
              <a:cs typeface="+mj-cs"/>
            </a:endParaRPr>
          </a:p>
          <a:p>
            <a:pPr marL="285750" indent="-28575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ea typeface="+mj-ea"/>
                <a:cs typeface="+mj-cs"/>
              </a:rPr>
              <a:t>Равномерная нагрузка экспертов</a:t>
            </a: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;</a:t>
            </a:r>
            <a:endParaRPr lang="ru-RU" sz="2400" dirty="0">
              <a:solidFill>
                <a:schemeClr val="bg1"/>
              </a:solidFill>
              <a:ea typeface="+mj-ea"/>
              <a:cs typeface="+mj-cs"/>
            </a:endParaRPr>
          </a:p>
          <a:p>
            <a:pPr marL="285750" indent="-28575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ea typeface="+mj-ea"/>
                <a:cs typeface="+mj-cs"/>
              </a:rPr>
              <a:t>Необходимость выбрасывать часть токенов </a:t>
            </a: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(Token drop).</a:t>
            </a:r>
            <a:endParaRPr lang="ru-RU" sz="2400" dirty="0">
              <a:solidFill>
                <a:schemeClr val="bg1"/>
              </a:solidFill>
              <a:ea typeface="+mj-ea"/>
              <a:cs typeface="+mj-cs"/>
            </a:endParaRP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734382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D336D4B-F9C3-4167-9191-8DA896C80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069BF0B4-2BF1-40F2-8D8E-9CFCED97D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0" y="4672012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RU"/>
          </a:p>
        </p:txBody>
      </p:sp>
      <p:pic>
        <p:nvPicPr>
          <p:cNvPr id="5" name="Picture 4" descr="A diagram of a computer system&#10;&#10;Description automatically generated with medium confidence">
            <a:extLst>
              <a:ext uri="{FF2B5EF4-FFF2-40B4-BE49-F238E27FC236}">
                <a16:creationId xmlns:a16="http://schemas.microsoft.com/office/drawing/2014/main" id="{E4E0F6B5-9E4D-4B23-D2A2-77B451842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4" y="1150572"/>
            <a:ext cx="11287589" cy="3499150"/>
          </a:xfrm>
          <a:prstGeom prst="roundRect">
            <a:avLst>
              <a:gd name="adj" fmla="val 3876"/>
            </a:avLst>
          </a:prstGeom>
          <a:ln>
            <a:solidFill>
              <a:schemeClr val="bg1"/>
            </a:solidFill>
          </a:ln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3DD9C-799F-CD4F-B8F5-8919E8E8A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13" y="4994032"/>
            <a:ext cx="11459133" cy="16575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000" dirty="0">
                <a:solidFill>
                  <a:srgbClr val="FEFEFE"/>
                </a:solidFill>
              </a:rPr>
              <a:t>Добавляем нули, затираем не влезающие токены</a:t>
            </a:r>
            <a:r>
              <a:rPr lang="en-US" sz="2000" dirty="0">
                <a:solidFill>
                  <a:srgbClr val="FEFEFE"/>
                </a:solidFill>
              </a:rPr>
              <a:t>;</a:t>
            </a:r>
          </a:p>
          <a:p>
            <a:pPr>
              <a:lnSpc>
                <a:spcPct val="90000"/>
              </a:lnSpc>
            </a:pPr>
            <a:r>
              <a:rPr lang="ru-RU" sz="2000" dirty="0">
                <a:solidFill>
                  <a:srgbClr val="FEFEFE"/>
                </a:solidFill>
              </a:rPr>
              <a:t>Существуют работы, которые оправдывают токен </a:t>
            </a:r>
            <a:r>
              <a:rPr lang="ru-RU" sz="2000" dirty="0" err="1">
                <a:solidFill>
                  <a:srgbClr val="FEFEFE"/>
                </a:solidFill>
              </a:rPr>
              <a:t>дроп</a:t>
            </a:r>
            <a:r>
              <a:rPr lang="ru-RU" sz="2000" dirty="0">
                <a:solidFill>
                  <a:srgbClr val="FEFEFE"/>
                </a:solidFill>
              </a:rPr>
              <a:t> как </a:t>
            </a:r>
            <a:r>
              <a:rPr lang="ru-RU" sz="2000" dirty="0" err="1">
                <a:solidFill>
                  <a:srgbClr val="FEFEFE"/>
                </a:solidFill>
              </a:rPr>
              <a:t>регуляризатор</a:t>
            </a:r>
            <a:r>
              <a:rPr lang="ru-RU" sz="2000" dirty="0">
                <a:solidFill>
                  <a:srgbClr val="FEFEFE"/>
                </a:solidFill>
              </a:rPr>
              <a:t>, но имеет смысл с этим бороться.</a:t>
            </a:r>
            <a:endParaRPr lang="en-US" sz="2000" dirty="0">
              <a:solidFill>
                <a:srgbClr val="FEFEF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95001C-0EF0-265F-FD96-7F9B0D98AD8A}"/>
              </a:ext>
            </a:extLst>
          </p:cNvPr>
          <p:cNvSpPr txBox="1"/>
          <p:nvPr/>
        </p:nvSpPr>
        <p:spPr>
          <a:xfrm>
            <a:off x="334974" y="288798"/>
            <a:ext cx="458372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Схема с </a:t>
            </a:r>
            <a:r>
              <a:rPr lang="en-US" sz="3200" dirty="0"/>
              <a:t>token-drop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97047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2AEB96-A3F8-4EC3-A246-8DAD9319A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14002556-A10E-479D-9B30-0C8B7938E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8E50D-AD35-CBA2-3E93-C819FA600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447188"/>
            <a:ext cx="3675318" cy="5468700"/>
          </a:xfrm>
        </p:spPr>
        <p:txBody>
          <a:bodyPr anchor="ctr">
            <a:normAutofit/>
          </a:bodyPr>
          <a:lstStyle/>
          <a:p>
            <a:r>
              <a:rPr lang="en-RU" sz="3200"/>
              <a:t>Capacity 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7AB93-3CE3-5331-1187-80096DA6A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23" y="2248022"/>
            <a:ext cx="6585235" cy="3395469"/>
          </a:xfrm>
          <a:effectLst/>
        </p:spPr>
        <p:txBody>
          <a:bodyPr>
            <a:normAutofit/>
          </a:bodyPr>
          <a:lstStyle/>
          <a:p>
            <a:r>
              <a:rPr lang="ru-RU" sz="1600" dirty="0"/>
              <a:t>В качестве попытки борьбы с токен </a:t>
            </a:r>
            <a:r>
              <a:rPr lang="ru-RU" sz="1600" dirty="0" err="1"/>
              <a:t>дропом</a:t>
            </a:r>
            <a:r>
              <a:rPr lang="ru-RU" sz="1600" dirty="0"/>
              <a:t> введено понятие </a:t>
            </a:r>
            <a:r>
              <a:rPr lang="en-US" sz="1600" dirty="0"/>
              <a:t>capacity factor.</a:t>
            </a:r>
          </a:p>
          <a:p>
            <a:r>
              <a:rPr lang="ru-RU" sz="1600" dirty="0"/>
              <a:t>Вместимость эксперта – среднее число токенов на одного эксперта умножить на «перестраховочную» константу.</a:t>
            </a:r>
          </a:p>
          <a:p>
            <a:r>
              <a:rPr lang="ru-RU" sz="1600" dirty="0"/>
              <a:t>Таким берём размер </a:t>
            </a:r>
            <a:r>
              <a:rPr lang="ru-RU" sz="1600" dirty="0" err="1"/>
              <a:t>батча</a:t>
            </a:r>
            <a:r>
              <a:rPr lang="ru-RU" sz="1600" dirty="0"/>
              <a:t> для </a:t>
            </a:r>
            <a:r>
              <a:rPr lang="en-US" sz="1600" dirty="0" err="1"/>
              <a:t>bmm</a:t>
            </a:r>
            <a:r>
              <a:rPr lang="en-US" sz="1600" dirty="0"/>
              <a:t> </a:t>
            </a:r>
            <a:r>
              <a:rPr lang="ru-RU" sz="1600" dirty="0"/>
              <a:t>умножения.</a:t>
            </a:r>
            <a:endParaRPr lang="en-US" sz="1600" dirty="0"/>
          </a:p>
          <a:p>
            <a:r>
              <a:rPr lang="ru-RU" sz="1600" dirty="0"/>
              <a:t>Проблема: теперь ищем баланс между эффективным хранением и числом выбрасываемых токенов.</a:t>
            </a:r>
            <a:endParaRPr lang="en-RU" sz="1600" dirty="0"/>
          </a:p>
        </p:txBody>
      </p:sp>
      <p:pic>
        <p:nvPicPr>
          <p:cNvPr id="5" name="Picture 4" descr="A close-up of a text&#10;&#10;Description automatically generated">
            <a:extLst>
              <a:ext uri="{FF2B5EF4-FFF2-40B4-BE49-F238E27FC236}">
                <a16:creationId xmlns:a16="http://schemas.microsoft.com/office/drawing/2014/main" id="{395219C2-C105-57E2-4D27-BBC10A437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24" y="808196"/>
            <a:ext cx="6585235" cy="856080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505503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5345-C172-3971-C8E4-78D7418D9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ru-RU" dirty="0"/>
              <a:t>Равномерная нагрузка экспертов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1D8A1-D35C-2CE5-CE78-013D9E070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909" y="1711568"/>
            <a:ext cx="5216768" cy="44547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1600" dirty="0"/>
              <a:t>Если не мотивировать модель на обучении равномерно нагружать экспертов, то будет обнуление градиентов на части экспертов. Модель привыкнет отдавать все токены лишь на часть экспертов. Ресурсы не используются.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ru-RU" sz="1600" dirty="0"/>
              <a:t>Идея – дополнительный </a:t>
            </a:r>
            <a:r>
              <a:rPr lang="ru-RU" sz="1600" dirty="0" err="1"/>
              <a:t>лосс</a:t>
            </a:r>
            <a:r>
              <a:rPr lang="ru-RU" sz="1600" dirty="0"/>
              <a:t>.</a:t>
            </a:r>
            <a:r>
              <a:rPr lang="en-US" sz="1600" dirty="0"/>
              <a:t> </a:t>
            </a:r>
            <a:r>
              <a:rPr lang="ru-RU" sz="1600" dirty="0"/>
              <a:t>Здесь </a:t>
            </a:r>
            <a:r>
              <a:rPr lang="en-US" sz="1600" dirty="0" err="1"/>
              <a:t>f_i</a:t>
            </a:r>
            <a:r>
              <a:rPr lang="en-US" sz="1600" dirty="0"/>
              <a:t> – </a:t>
            </a:r>
            <a:r>
              <a:rPr lang="ru-RU" sz="1600" dirty="0"/>
              <a:t>доля от числа токенов, которая попала на </a:t>
            </a:r>
            <a:r>
              <a:rPr lang="en-US" sz="1600" dirty="0" err="1"/>
              <a:t>i</a:t>
            </a:r>
            <a:r>
              <a:rPr lang="en-US" sz="1600" dirty="0"/>
              <a:t>-</a:t>
            </a:r>
            <a:r>
              <a:rPr lang="ru-RU" sz="1600" dirty="0"/>
              <a:t>ого эксперта; </a:t>
            </a:r>
            <a:r>
              <a:rPr lang="en-US" sz="1600" dirty="0" err="1"/>
              <a:t>p_i</a:t>
            </a:r>
            <a:r>
              <a:rPr lang="en-US" sz="1600" dirty="0"/>
              <a:t> – </a:t>
            </a:r>
            <a:r>
              <a:rPr lang="ru-RU" sz="1600" dirty="0"/>
              <a:t>средняя вероятность попадания токена на данного эксперта.</a:t>
            </a:r>
          </a:p>
          <a:p>
            <a:pPr>
              <a:lnSpc>
                <a:spcPct val="90000"/>
              </a:lnSpc>
            </a:pPr>
            <a:r>
              <a:rPr lang="ru-RU" sz="1600" dirty="0"/>
              <a:t>Пока оставим проблему с токенами и посмотрим историю развития </a:t>
            </a:r>
            <a:r>
              <a:rPr lang="en-US" sz="1600" dirty="0" err="1"/>
              <a:t>MoE</a:t>
            </a:r>
            <a:r>
              <a:rPr lang="en-US" sz="1600" dirty="0"/>
              <a:t> </a:t>
            </a:r>
            <a:r>
              <a:rPr lang="ru-RU" sz="1600" dirty="0"/>
              <a:t>вплоть до её решения.</a:t>
            </a:r>
            <a:endParaRPr lang="en-RU" sz="1600" dirty="0"/>
          </a:p>
        </p:txBody>
      </p:sp>
      <p:pic>
        <p:nvPicPr>
          <p:cNvPr id="11" name="Picture 10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4E67B1EE-6F9F-80F2-6F98-763EFBF47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742" y="2133599"/>
            <a:ext cx="6277349" cy="2389999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05819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RU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9699A8-9F52-4C34-9606-370C555BC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6DB9E-DC03-56B1-42F4-9C34F17C7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1240780"/>
            <a:ext cx="6086857" cy="4376440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400" dirty="0" err="1">
                <a:solidFill>
                  <a:schemeClr val="tx1"/>
                </a:solidFill>
              </a:rPr>
              <a:t>Популярные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решения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с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использованием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MoE</a:t>
            </a:r>
            <a:endParaRPr lang="en-US" sz="44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CF8BA8-E7AA-4F97-9E4C-CD11742FA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306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2D88-E4F7-A828-AB5C-A22686218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Switch 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8C892-F949-DE7B-25A9-4FB6B244C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70915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0C6A0-4D78-A8BB-07BA-AFC9C962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GShard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1582F-50D5-430C-4C25-023EA17FE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50715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5BF6-062E-58DF-3B6A-EBCB3E3E1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Mixtral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36811-EDC6-FA87-14CF-6B5A98E54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06356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0DE8A2-73B1-4AFE-8FB9-BE4B66F39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E5ADB140-E61F-4DA4-A342-F5EF70772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F996D-60AF-DE83-A41F-BC9C49EBD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394943"/>
            <a:ext cx="11288972" cy="81663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MegaBlocks и решение токен дропа.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CB272-94E5-D655-107A-567951D37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14" y="1211580"/>
            <a:ext cx="11288972" cy="4914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От bmm к разреженным блочно-диагональным матрицам.</a:t>
            </a:r>
          </a:p>
        </p:txBody>
      </p:sp>
      <p:pic>
        <p:nvPicPr>
          <p:cNvPr id="7" name="Picture 6" descr="A diagram of a multiplying matrix&#10;&#10;Description automatically generated">
            <a:extLst>
              <a:ext uri="{FF2B5EF4-FFF2-40B4-BE49-F238E27FC236}">
                <a16:creationId xmlns:a16="http://schemas.microsoft.com/office/drawing/2014/main" id="{D2AC826D-8E27-D186-7F58-EBAF700C7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14" y="2365863"/>
            <a:ext cx="11288972" cy="3076246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174899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2432</TotalTime>
  <Words>467</Words>
  <Application>Microsoft Macintosh PowerPoint</Application>
  <PresentationFormat>Widescreen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2</vt:lpstr>
      <vt:lpstr>Quotable</vt:lpstr>
      <vt:lpstr>Введение в Mixture-of-Experts</vt:lpstr>
      <vt:lpstr>Что такое FFN</vt:lpstr>
      <vt:lpstr>Что такое MoE</vt:lpstr>
      <vt:lpstr>Пример использования</vt:lpstr>
      <vt:lpstr>Преимущества и недостатки в сравнении с FFN</vt:lpstr>
      <vt:lpstr>Проблемы на обучении</vt:lpstr>
      <vt:lpstr>PowerPoint Presentation</vt:lpstr>
      <vt:lpstr>Capacity factor</vt:lpstr>
      <vt:lpstr>Равномерная нагрузка экспертов</vt:lpstr>
      <vt:lpstr>Популярные решения с использованием MoE</vt:lpstr>
      <vt:lpstr>Switch Transformer</vt:lpstr>
      <vt:lpstr>GShard</vt:lpstr>
      <vt:lpstr>Mixtral</vt:lpstr>
      <vt:lpstr>MegaBlocks и решение токен дропа.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Антонина П.</dc:creator>
  <cp:lastModifiedBy>Стан Илья</cp:lastModifiedBy>
  <cp:revision>5</cp:revision>
  <dcterms:created xsi:type="dcterms:W3CDTF">2025-03-02T08:41:49Z</dcterms:created>
  <dcterms:modified xsi:type="dcterms:W3CDTF">2025-03-05T07:58:09Z</dcterms:modified>
</cp:coreProperties>
</file>